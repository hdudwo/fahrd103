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5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6459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67B5B"/>
                </a:solidFill>
              </a:defRPr>
            </a:pPr>
            <a:r>
              <a:t>FAHRD 103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C1810"/>
                </a:solidFill>
              </a:defRPr>
            </a:pPr>
            <a:r>
              <a:t>파흐드103 웹 프로젝트 발표</a:t>
            </a:r>
          </a:p>
          <a:p>
            <a:pPr>
              <a:defRPr sz="1700">
                <a:solidFill>
                  <a:srgbClr val="5C3D2E"/>
                </a:solidFill>
              </a:defRPr>
            </a:pPr>
            <a:r>
              <a:t>안중 카페 브랜드 소개 홈페이지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89888"/>
            <a:ext cx="10744200" cy="27432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19072"/>
            <a:ext cx="67665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3D261C"/>
                </a:solidFill>
              </a:defRPr>
            </a:pPr>
            <a:r>
              <a:t>• 방문 전 필요한 정보를 쉽고 빠르게 확인할 수 있게 구성했습니다.</a:t>
            </a:r>
          </a:p>
          <a:p>
            <a:pPr>
              <a:spcAft>
                <a:spcPts val="900"/>
              </a:spcAft>
              <a:defRPr sz="2100">
                <a:solidFill>
                  <a:srgbClr val="3D261C"/>
                </a:solidFill>
              </a:defRPr>
            </a:pPr>
            <a:r>
              <a:t>• 메뉴, 공간 분위기, 위치 정보를 한 흐름으로 전달합니다.</a:t>
            </a:r>
          </a:p>
          <a:p>
            <a:pPr>
              <a:spcAft>
                <a:spcPts val="900"/>
              </a:spcAft>
              <a:defRPr sz="2100">
                <a:solidFill>
                  <a:srgbClr val="3D261C"/>
                </a:solidFill>
              </a:defRPr>
            </a:pPr>
            <a:r>
              <a:t>• 지금부터 구현된 기능 중심으로 발표하겠습니다.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4968" y="1755648"/>
            <a:ext cx="3529584" cy="4187952"/>
          </a:xfrm>
          <a:prstGeom prst="rect">
            <a:avLst/>
          </a:prstGeom>
          <a:solidFill>
            <a:srgbClr val="F5EDE3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ahrd-10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28800"/>
            <a:ext cx="3383280" cy="4041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958C"/>
                </a:solidFill>
              </a:defRPr>
            </a:pPr>
            <a:r>
              <a:t>파흐드103 웹 프로젝트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5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6459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67B5B"/>
                </a:solidFill>
              </a:defRPr>
            </a:pPr>
            <a:r>
              <a:t>FAHRD 103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C1810"/>
                </a:solidFill>
              </a:defRPr>
            </a:pPr>
            <a:r>
              <a:t>프로젝트 목표</a:t>
            </a:r>
          </a:p>
          <a:p>
            <a:pPr>
              <a:defRPr sz="1700">
                <a:solidFill>
                  <a:srgbClr val="5C3D2E"/>
                </a:solidFill>
              </a:defRPr>
            </a:pPr>
            <a:r>
              <a:t>사용자 관점의 정보 전달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89888"/>
            <a:ext cx="10744200" cy="27432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19072"/>
            <a:ext cx="67665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3D261C"/>
                </a:solidFill>
              </a:defRPr>
            </a:pPr>
            <a:r>
              <a:t>• 온라인에서도 파흐드103의 분위기와 브랜드 인상을 느끼게 하기</a:t>
            </a:r>
          </a:p>
          <a:p>
            <a:pPr>
              <a:spcAft>
                <a:spcPts val="900"/>
              </a:spcAft>
              <a:defRPr sz="2100">
                <a:solidFill>
                  <a:srgbClr val="3D261C"/>
                </a:solidFill>
              </a:defRPr>
            </a:pPr>
            <a:r>
              <a:t>• 사용자가 필요한 정보를 복잡하지 않게 찾을 수 있게 하기</a:t>
            </a:r>
          </a:p>
          <a:p>
            <a:pPr>
              <a:spcAft>
                <a:spcPts val="900"/>
              </a:spcAft>
              <a:defRPr sz="2100">
                <a:solidFill>
                  <a:srgbClr val="3D261C"/>
                </a:solidFill>
              </a:defRPr>
            </a:pPr>
            <a:r>
              <a:t>• 홈페이지 확인 후 실제 방문으로 자연스럽게 이어지게 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4968" y="1755648"/>
            <a:ext cx="3529584" cy="4187952"/>
          </a:xfrm>
          <a:prstGeom prst="rect">
            <a:avLst/>
          </a:prstGeom>
          <a:solidFill>
            <a:srgbClr val="F5EDE3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tmo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28800"/>
            <a:ext cx="3383280" cy="4041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958C"/>
                </a:solidFill>
              </a:defRPr>
            </a:pPr>
            <a:r>
              <a:t>파흐드103 웹 프로젝트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5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6459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67B5B"/>
                </a:solidFill>
              </a:defRPr>
            </a:pPr>
            <a:r>
              <a:t>FAHRD 103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C1810"/>
                </a:solidFill>
              </a:defRPr>
            </a:pPr>
            <a:r>
              <a:t>전체 화면 구성</a:t>
            </a:r>
          </a:p>
          <a:p>
            <a:pPr>
              <a:defRPr sz="1700">
                <a:solidFill>
                  <a:srgbClr val="5C3D2E"/>
                </a:solidFill>
              </a:defRPr>
            </a:pPr>
            <a:r>
              <a:t>홈 → 메뉴 → 소개 → 갤러리 → 오시는 길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89888"/>
            <a:ext cx="10744200" cy="27432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19072"/>
            <a:ext cx="67665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3D261C"/>
                </a:solidFill>
              </a:defRPr>
            </a:pPr>
            <a:r>
              <a:t>• 홈: 첫인상과 핵심 정보 안내</a:t>
            </a:r>
          </a:p>
          <a:p>
            <a:pPr>
              <a:spcAft>
                <a:spcPts val="900"/>
              </a:spcAft>
              <a:defRPr sz="2100">
                <a:solidFill>
                  <a:srgbClr val="3D261C"/>
                </a:solidFill>
              </a:defRPr>
            </a:pPr>
            <a:r>
              <a:t>• 메뉴: 음료/디저트를 카테고리별로 탐색</a:t>
            </a:r>
          </a:p>
          <a:p>
            <a:pPr>
              <a:spcAft>
                <a:spcPts val="900"/>
              </a:spcAft>
              <a:defRPr sz="2100">
                <a:solidFill>
                  <a:srgbClr val="3D261C"/>
                </a:solidFill>
              </a:defRPr>
            </a:pPr>
            <a:r>
              <a:t>• 소개: 브랜드 스토리와 공간 컨셉 전달</a:t>
            </a:r>
          </a:p>
          <a:p>
            <a:pPr>
              <a:spcAft>
                <a:spcPts val="900"/>
              </a:spcAft>
              <a:defRPr sz="2100">
                <a:solidFill>
                  <a:srgbClr val="3D261C"/>
                </a:solidFill>
              </a:defRPr>
            </a:pPr>
            <a:r>
              <a:t>• 갤러리: 카테고리 필터와 이미지 확대 보기</a:t>
            </a:r>
          </a:p>
          <a:p>
            <a:pPr>
              <a:spcAft>
                <a:spcPts val="900"/>
              </a:spcAft>
              <a:defRPr sz="2100">
                <a:solidFill>
                  <a:srgbClr val="3D261C"/>
                </a:solidFill>
              </a:defRPr>
            </a:pPr>
            <a:r>
              <a:t>• 오시는 길: 지도, 영업시간, 주차/교통 정보 제공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4968" y="1755648"/>
            <a:ext cx="3529584" cy="2020824"/>
          </a:xfrm>
          <a:prstGeom prst="rect">
            <a:avLst/>
          </a:prstGeom>
          <a:solidFill>
            <a:srgbClr val="F5EDE3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ahrd-103-thum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28800"/>
            <a:ext cx="3383280" cy="187451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44968" y="3904487"/>
            <a:ext cx="3529584" cy="2020824"/>
          </a:xfrm>
          <a:prstGeom prst="rect">
            <a:avLst/>
          </a:prstGeom>
          <a:solidFill>
            <a:srgbClr val="F5EDE3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ffee-thum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977639"/>
            <a:ext cx="3383280" cy="18745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958C"/>
                </a:solidFill>
              </a:defRPr>
            </a:pPr>
            <a:r>
              <a:t>파흐드103 웹 프로젝트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5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6459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67B5B"/>
                </a:solidFill>
              </a:defRPr>
            </a:pPr>
            <a:r>
              <a:t>FAHRD 103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C1810"/>
                </a:solidFill>
              </a:defRPr>
            </a:pPr>
            <a:r>
              <a:t>핵심 기능 1</a:t>
            </a:r>
          </a:p>
          <a:p>
            <a:pPr>
              <a:defRPr sz="1700">
                <a:solidFill>
                  <a:srgbClr val="5C3D2E"/>
                </a:solidFill>
              </a:defRPr>
            </a:pPr>
            <a:r>
              <a:t>탐색과 화면 전환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89888"/>
            <a:ext cx="10744200" cy="27432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19072"/>
            <a:ext cx="67665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3D261C"/>
                </a:solidFill>
              </a:defRPr>
            </a:pPr>
            <a:r>
              <a:t>• 상단 메뉴를 눌러 원하는 페이지로 즉시 이동할 수 있습니다.</a:t>
            </a:r>
          </a:p>
          <a:p>
            <a:pPr>
              <a:spcAft>
                <a:spcPts val="900"/>
              </a:spcAft>
              <a:defRPr sz="2100">
                <a:solidFill>
                  <a:srgbClr val="3D261C"/>
                </a:solidFill>
              </a:defRPr>
            </a:pPr>
            <a:r>
              <a:t>• 모바일에서는 메뉴 버튼으로 같은 탐색 기능을 제공합니다.</a:t>
            </a:r>
          </a:p>
          <a:p>
            <a:pPr>
              <a:spcAft>
                <a:spcPts val="900"/>
              </a:spcAft>
              <a:defRPr sz="2100">
                <a:solidFill>
                  <a:srgbClr val="3D261C"/>
                </a:solidFill>
              </a:defRPr>
            </a:pPr>
            <a:r>
              <a:t>• 스크롤 시 콘텐츠가 순서대로 나타나 읽기 흐름이 자연스럽습니다.</a:t>
            </a:r>
          </a:p>
          <a:p>
            <a:pPr>
              <a:spcAft>
                <a:spcPts val="900"/>
              </a:spcAft>
              <a:defRPr sz="2100">
                <a:solidFill>
                  <a:srgbClr val="3D261C"/>
                </a:solidFill>
              </a:defRPr>
            </a:pPr>
            <a:r>
              <a:t>• 페이지 이동 시 화면 전환이 끊기지 않게 구성했습니다.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4968" y="1755648"/>
            <a:ext cx="3529584" cy="4187952"/>
          </a:xfrm>
          <a:prstGeom prst="rect">
            <a:avLst/>
          </a:prstGeom>
          <a:solidFill>
            <a:srgbClr val="F5EDE3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ffe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28800"/>
            <a:ext cx="3383280" cy="4041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958C"/>
                </a:solidFill>
              </a:defRPr>
            </a:pPr>
            <a:r>
              <a:t>파흐드103 웹 프로젝트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5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6459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67B5B"/>
                </a:solidFill>
              </a:defRPr>
            </a:pPr>
            <a:r>
              <a:t>FAHRD 103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C1810"/>
                </a:solidFill>
              </a:defRPr>
            </a:pPr>
            <a:r>
              <a:t>핵심 기능 2</a:t>
            </a:r>
          </a:p>
          <a:p>
            <a:pPr>
              <a:defRPr sz="1700">
                <a:solidFill>
                  <a:srgbClr val="5C3D2E"/>
                </a:solidFill>
              </a:defRPr>
            </a:pPr>
            <a:r>
              <a:t>콘텐츠 확인과 방문 정보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89888"/>
            <a:ext cx="10744200" cy="27432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19072"/>
            <a:ext cx="67665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3D261C"/>
                </a:solidFill>
              </a:defRPr>
            </a:pPr>
            <a:r>
              <a:t>• 메뉴 페이지에서 음료/디저트를 한눈에 비교할 수 있습니다.</a:t>
            </a:r>
          </a:p>
          <a:p>
            <a:pPr>
              <a:spcAft>
                <a:spcPts val="900"/>
              </a:spcAft>
              <a:defRPr sz="2100">
                <a:solidFill>
                  <a:srgbClr val="3D261C"/>
                </a:solidFill>
              </a:defRPr>
            </a:pPr>
            <a:r>
              <a:t>• 갤러리 페이지에서 카테고리 필터로 원하는 사진만 볼 수 있습니다.</a:t>
            </a:r>
          </a:p>
          <a:p>
            <a:pPr>
              <a:spcAft>
                <a:spcPts val="900"/>
              </a:spcAft>
              <a:defRPr sz="2100">
                <a:solidFill>
                  <a:srgbClr val="3D261C"/>
                </a:solidFill>
              </a:defRPr>
            </a:pPr>
            <a:r>
              <a:t>• 사진 클릭 시 확대 화면으로 디테일을 확인할 수 있습니다.</a:t>
            </a:r>
          </a:p>
          <a:p>
            <a:pPr>
              <a:spcAft>
                <a:spcPts val="900"/>
              </a:spcAft>
              <a:defRPr sz="2100">
                <a:solidFill>
                  <a:srgbClr val="3D261C"/>
                </a:solidFill>
              </a:defRPr>
            </a:pPr>
            <a:r>
              <a:t>• 오시는 길 페이지에서 지도와 길찾기 링크를 바로 제공합니다.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4968" y="1755648"/>
            <a:ext cx="3529584" cy="2020824"/>
          </a:xfrm>
          <a:prstGeom prst="rect">
            <a:avLst/>
          </a:prstGeom>
          <a:solidFill>
            <a:srgbClr val="F5EDE3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tmos-thum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28800"/>
            <a:ext cx="3383280" cy="187451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44968" y="3904487"/>
            <a:ext cx="3529584" cy="2020824"/>
          </a:xfrm>
          <a:prstGeom prst="rect">
            <a:avLst/>
          </a:prstGeom>
          <a:solidFill>
            <a:srgbClr val="F5EDE3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hrd-103-thum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977639"/>
            <a:ext cx="3383280" cy="18745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958C"/>
                </a:solidFill>
              </a:defRPr>
            </a:pPr>
            <a:r>
              <a:t>파흐드103 웹 프로젝트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5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6459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67B5B"/>
                </a:solidFill>
              </a:defRPr>
            </a:pPr>
            <a:r>
              <a:t>FAHRD 103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C1810"/>
                </a:solidFill>
              </a:defRPr>
            </a:pPr>
            <a:r>
              <a:t>사용자 입장에서 좋은 점</a:t>
            </a:r>
          </a:p>
          <a:p>
            <a:pPr>
              <a:defRPr sz="1700">
                <a:solidFill>
                  <a:srgbClr val="5C3D2E"/>
                </a:solidFill>
              </a:defRPr>
            </a:pPr>
            <a:r>
              <a:t>실제 이용성 중심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89888"/>
            <a:ext cx="10744200" cy="27432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19072"/>
            <a:ext cx="67665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3D261C"/>
                </a:solidFill>
              </a:defRPr>
            </a:pPr>
            <a:r>
              <a:t>• 처음 방문하는 사람도 매장 분위기를 미리 파악할 수 있습니다.</a:t>
            </a:r>
          </a:p>
          <a:p>
            <a:pPr>
              <a:spcAft>
                <a:spcPts val="900"/>
              </a:spcAft>
              <a:defRPr sz="2100">
                <a:solidFill>
                  <a:srgbClr val="3D261C"/>
                </a:solidFill>
              </a:defRPr>
            </a:pPr>
            <a:r>
              <a:t>• 메뉴와 정보를 미리 확인해 방문 결정을 빠르게 할 수 있습니다.</a:t>
            </a:r>
          </a:p>
          <a:p>
            <a:pPr>
              <a:spcAft>
                <a:spcPts val="900"/>
              </a:spcAft>
              <a:defRPr sz="2100">
                <a:solidFill>
                  <a:srgbClr val="3D261C"/>
                </a:solidFill>
              </a:defRPr>
            </a:pPr>
            <a:r>
              <a:t>• 위치, 영업시간, 주차 정보를 한 페이지에서 확인할 수 있습니다.</a:t>
            </a:r>
          </a:p>
          <a:p>
            <a:pPr>
              <a:spcAft>
                <a:spcPts val="900"/>
              </a:spcAft>
              <a:defRPr sz="2100">
                <a:solidFill>
                  <a:srgbClr val="3D261C"/>
                </a:solidFill>
              </a:defRPr>
            </a:pPr>
            <a:r>
              <a:t>• 모바일 화면에서도 핵심 기능을 동일하게 사용할 수 있습니다.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4968" y="1755648"/>
            <a:ext cx="3529584" cy="4187952"/>
          </a:xfrm>
          <a:prstGeom prst="rect">
            <a:avLst/>
          </a:prstGeom>
          <a:solidFill>
            <a:srgbClr val="F5EDE3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ahrd-10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28800"/>
            <a:ext cx="3383280" cy="4041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958C"/>
                </a:solidFill>
              </a:defRPr>
            </a:pPr>
            <a:r>
              <a:t>파흐드103 웹 프로젝트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5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6459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67B5B"/>
                </a:solidFill>
              </a:defRPr>
            </a:pPr>
            <a:r>
              <a:t>FAHRD 103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C1810"/>
                </a:solidFill>
              </a:defRPr>
            </a:pPr>
            <a:r>
              <a:t>시연 순서 (10분 이내)</a:t>
            </a:r>
          </a:p>
          <a:p>
            <a:pPr>
              <a:defRPr sz="1700">
                <a:solidFill>
                  <a:srgbClr val="5C3D2E"/>
                </a:solidFill>
              </a:defRPr>
            </a:pPr>
            <a:r>
              <a:t>발표 진행 시 실제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89888"/>
            <a:ext cx="10744200" cy="27432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19072"/>
            <a:ext cx="67665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3D261C"/>
                </a:solidFill>
              </a:defRPr>
            </a:pPr>
            <a:r>
              <a:t>• 1. 홈 화면에서 프로젝트 목적과 첫인상 설명</a:t>
            </a:r>
          </a:p>
          <a:p>
            <a:pPr>
              <a:spcAft>
                <a:spcPts val="900"/>
              </a:spcAft>
              <a:defRPr sz="2100">
                <a:solidFill>
                  <a:srgbClr val="3D261C"/>
                </a:solidFill>
              </a:defRPr>
            </a:pPr>
            <a:r>
              <a:t>• 2. 메뉴 화면에서 정보 구성 방식 설명</a:t>
            </a:r>
          </a:p>
          <a:p>
            <a:pPr>
              <a:spcAft>
                <a:spcPts val="900"/>
              </a:spcAft>
              <a:defRPr sz="2100">
                <a:solidFill>
                  <a:srgbClr val="3D261C"/>
                </a:solidFill>
              </a:defRPr>
            </a:pPr>
            <a:r>
              <a:t>• 3. 소개 화면에서 브랜드 스토리 설명</a:t>
            </a:r>
          </a:p>
          <a:p>
            <a:pPr>
              <a:spcAft>
                <a:spcPts val="900"/>
              </a:spcAft>
              <a:defRPr sz="2100">
                <a:solidFill>
                  <a:srgbClr val="3D261C"/>
                </a:solidFill>
              </a:defRPr>
            </a:pPr>
            <a:r>
              <a:t>• 4. 갤러리 화면에서 필터/확대 보기 시연</a:t>
            </a:r>
          </a:p>
          <a:p>
            <a:pPr>
              <a:spcAft>
                <a:spcPts val="900"/>
              </a:spcAft>
              <a:defRPr sz="2100">
                <a:solidFill>
                  <a:srgbClr val="3D261C"/>
                </a:solidFill>
              </a:defRPr>
            </a:pPr>
            <a:r>
              <a:t>• 5. 오시는 길 화면에서 지도/영업정보 시연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4968" y="1755648"/>
            <a:ext cx="3529584" cy="4187952"/>
          </a:xfrm>
          <a:prstGeom prst="rect">
            <a:avLst/>
          </a:prstGeom>
          <a:solidFill>
            <a:srgbClr val="F5EDE3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tmo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28800"/>
            <a:ext cx="3383280" cy="4041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958C"/>
                </a:solidFill>
              </a:defRPr>
            </a:pPr>
            <a:r>
              <a:t>파흐드103 웹 프로젝트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5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6459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67B5B"/>
                </a:solidFill>
              </a:defRPr>
            </a:pPr>
            <a:r>
              <a:t>FAHRD 103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C1810"/>
                </a:solidFill>
              </a:defRPr>
            </a:pPr>
            <a:r>
              <a:t>평가 기준 대응</a:t>
            </a:r>
          </a:p>
          <a:p>
            <a:pPr>
              <a:defRPr sz="1700">
                <a:solidFill>
                  <a:srgbClr val="5C3D2E"/>
                </a:solidFill>
              </a:defRPr>
            </a:pPr>
            <a:r>
              <a:t>발표 준비 체크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89888"/>
            <a:ext cx="10744200" cy="27432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19072"/>
            <a:ext cx="67665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3D261C"/>
                </a:solidFill>
              </a:defRPr>
            </a:pPr>
            <a:r>
              <a:t>• 화면 완성도와 시연 흐름 중심으로 발표 자료를 구성했습니다.</a:t>
            </a:r>
          </a:p>
          <a:p>
            <a:pPr>
              <a:spcAft>
                <a:spcPts val="900"/>
              </a:spcAft>
              <a:defRPr sz="2100">
                <a:solidFill>
                  <a:srgbClr val="3D261C"/>
                </a:solidFill>
              </a:defRPr>
            </a:pPr>
            <a:r>
              <a:t>• 핵심 기능을 짧고 명확하게 설명하도록 정리했습니다.</a:t>
            </a:r>
          </a:p>
          <a:p>
            <a:pPr>
              <a:spcAft>
                <a:spcPts val="900"/>
              </a:spcAft>
              <a:defRPr sz="2100">
                <a:solidFill>
                  <a:srgbClr val="3D261C"/>
                </a:solidFill>
              </a:defRPr>
            </a:pPr>
            <a:r>
              <a:t>• 발표 시간은 10분 이내로 맞춰 시나리오를 준비했습니다.</a:t>
            </a:r>
          </a:p>
          <a:p>
            <a:pPr>
              <a:spcAft>
                <a:spcPts val="900"/>
              </a:spcAft>
              <a:defRPr sz="2100">
                <a:solidFill>
                  <a:srgbClr val="3D261C"/>
                </a:solidFill>
              </a:defRPr>
            </a:pPr>
            <a:r>
              <a:t>• 제출물은 PPT, 시연, 프로젝트 폴더 압축 파일로 준비합니다.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4968" y="1755648"/>
            <a:ext cx="3529584" cy="4187952"/>
          </a:xfrm>
          <a:prstGeom prst="rect">
            <a:avLst/>
          </a:prstGeom>
          <a:solidFill>
            <a:srgbClr val="F5EDE3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ffe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28800"/>
            <a:ext cx="3383280" cy="4041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958C"/>
                </a:solidFill>
              </a:defRPr>
            </a:pPr>
            <a:r>
              <a:t>파흐드103 웹 프로젝트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5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6459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67B5B"/>
                </a:solidFill>
              </a:defRPr>
            </a:pPr>
            <a:r>
              <a:t>FAHRD 103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C1810"/>
                </a:solidFill>
              </a:defRPr>
            </a:pPr>
            <a:r>
              <a:t>마무리</a:t>
            </a:r>
          </a:p>
          <a:p>
            <a:pPr>
              <a:defRPr sz="1700">
                <a:solidFill>
                  <a:srgbClr val="5C3D2E"/>
                </a:solidFill>
              </a:defRPr>
            </a:pPr>
            <a:r>
              <a:t>Q&amp;A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89888"/>
            <a:ext cx="10744200" cy="27432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19072"/>
            <a:ext cx="67665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3D261C"/>
                </a:solidFill>
              </a:defRPr>
            </a:pPr>
            <a:r>
              <a:t>• 파흐드103 프로젝트는 방문 전 정보 확인을 쉽게 만드는 데 초점을 맞췄습니다.</a:t>
            </a:r>
          </a:p>
          <a:p>
            <a:pPr>
              <a:spcAft>
                <a:spcPts val="900"/>
              </a:spcAft>
              <a:defRPr sz="2100">
                <a:solidFill>
                  <a:srgbClr val="3D261C"/>
                </a:solidFill>
              </a:defRPr>
            </a:pPr>
            <a:r>
              <a:t>• 기능 중심 흐름으로 실제 사용자 이용성을 높였습니다.</a:t>
            </a:r>
          </a:p>
          <a:p>
            <a:pPr>
              <a:spcAft>
                <a:spcPts val="900"/>
              </a:spcAft>
              <a:defRPr sz="2100">
                <a:solidFill>
                  <a:srgbClr val="3D261C"/>
                </a:solidFill>
              </a:defRPr>
            </a:pPr>
            <a:r>
              <a:t>• 감사합니다. 질문 받겠습니다.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4968" y="1755648"/>
            <a:ext cx="3529584" cy="4187952"/>
          </a:xfrm>
          <a:prstGeom prst="rect">
            <a:avLst/>
          </a:prstGeom>
          <a:solidFill>
            <a:srgbClr val="F5EDE3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ahrd-10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28800"/>
            <a:ext cx="3383280" cy="4041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958C"/>
                </a:solidFill>
              </a:defRPr>
            </a:pPr>
            <a:r>
              <a:t>파흐드103 웹 프로젝트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